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8" autoAdjust="0"/>
    <p:restoredTop sz="94660"/>
  </p:normalViewPr>
  <p:slideViewPr>
    <p:cSldViewPr snapToGrid="0">
      <p:cViewPr varScale="1">
        <p:scale>
          <a:sx n="86" d="100"/>
          <a:sy n="86" d="100"/>
        </p:scale>
        <p:origin x="33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2B7B1B-A740-4C7F-AED5-792D38BF5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A685712-A730-4D70-BE36-6762C0476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DA8DA4-A525-4EA9-A795-83399BA04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5D0AB-A227-4F80-8CD6-000DA0E404C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27E53C-677D-4C8C-8487-D303CA207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BECF60-CD52-439C-B274-70FC52D97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9F5D-CF0D-4935-BF8A-97F65B4E3C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6441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A2E193-1C98-4C02-B882-492D7D6D5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427E93-F0E9-4279-9968-D7C4407D0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8101D8-E68A-40F2-9DC6-46A169C41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5D0AB-A227-4F80-8CD6-000DA0E404C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24AFD2-AA6D-4F2F-A87D-AF53D7059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7CA0CF-AB93-41A6-8BEE-5AB1772C2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9F5D-CF0D-4935-BF8A-97F65B4E3C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54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851804-BFAB-40C1-AE38-7D97F6DA9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3BAE0D-4711-43B0-B229-09E0E2533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FCBD1F-673D-49D2-B0B9-84CC79631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5D0AB-A227-4F80-8CD6-000DA0E404C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5AF446-7C3A-464E-B301-D3FEC9B77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E9F219-47E9-48C2-804B-5FE373B3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9F5D-CF0D-4935-BF8A-97F65B4E3C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718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3E582-8F0F-45AF-905E-36BDC7AB3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5AFB1F-53C3-499E-8F3F-A83AECAF2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0FD186-4AD8-4B9B-AAFA-7163974E3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77418C-B71C-4C27-8DEC-55720C960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5D0AB-A227-4F80-8CD6-000DA0E404C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2C52B2-1F62-44BA-838E-02B27F5A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D63F67-936F-44CA-8CC4-B595F287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9F5D-CF0D-4935-BF8A-97F65B4E3C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2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9E9E7-C468-4296-BCC6-CA86E707B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47A5BD-2BE9-4288-A063-ED072FEE9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DDBF7D-D1FC-44EA-BE0C-87056ACB3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467EB3E-2668-4475-BA55-C534D7C71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FA43E7D-A4BA-4A18-B8DF-A4B076C497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8BBB66D-DDFC-4EFA-944D-61B77084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5D0AB-A227-4F80-8CD6-000DA0E404C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2E09ACE-CB89-470B-92EE-1B6DF8026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07D3B2-AB12-4251-8724-C0F21A166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9F5D-CF0D-4935-BF8A-97F65B4E3C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6837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C363E4-5C94-42AD-AFAC-C236BAE8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5D28765-A7FF-42BB-A651-5D432C14F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5D0AB-A227-4F80-8CD6-000DA0E404C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D56D6E9-2DA9-4DD8-A3D1-C7DED17D5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E7B6933-DECD-4E3A-A562-A26E69A51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9F5D-CF0D-4935-BF8A-97F65B4E3C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311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884E707-B05D-4EFF-80ED-E79B9604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5D0AB-A227-4F80-8CD6-000DA0E404C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3CC0CA2-D506-4AAA-8C7C-A3BF856E6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87F7DE-E6AB-49F9-B8CA-C9E564607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9F5D-CF0D-4935-BF8A-97F65B4E3C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957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70D2B-990F-450B-B7DA-EABCC26B1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92C7C8-CA9C-4AEB-997C-4969FB2EF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7D38D9-5088-4E5D-BAC1-666F88DD6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1F9071-E045-4CD0-8722-E33FB8997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5D0AB-A227-4F80-8CD6-000DA0E404C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BD8810-D9D8-4776-A6E7-40746522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A17CDE-CA23-40C9-BE2B-E0721AE3D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9F5D-CF0D-4935-BF8A-97F65B4E3C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09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4550B4-FF95-4968-BEB5-61DF110AB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739720-F8D6-4C35-935E-61DA6BF9DE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3887D6-F794-4064-B864-3AA40AEAE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18E382-4A32-40A8-86C2-6C90C386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5D0AB-A227-4F80-8CD6-000DA0E404C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23213F-6573-4F12-9EE6-E71866C88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9B7B00-08D2-4D50-B312-C7771D18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9F5D-CF0D-4935-BF8A-97F65B4E3C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076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869CDF-A927-41D9-973D-62EC2884C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B0C7917-135A-4F50-8D8E-1A8492DBC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833F73-87BA-425E-9B50-CAFCC09FA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5D0AB-A227-4F80-8CD6-000DA0E404C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06FEFE-C9C5-46DC-A295-B37F32F8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ABE0B8-88A6-4D8C-B1E0-3385EFB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9F5D-CF0D-4935-BF8A-97F65B4E3C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83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CA7D81B-B1F8-411C-898F-BD8CE8622E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01B527-9E28-454D-9E99-0A2DC9E13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B092F8-7A5A-4295-BB7C-1097831E7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5D0AB-A227-4F80-8CD6-000DA0E404C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0C3DEE-83D8-47A2-BEC4-EE8398A88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A221D5-9F7D-4482-840B-282CDAE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9F5D-CF0D-4935-BF8A-97F65B4E3C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920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C7EE43-CAF7-4DEE-9854-5C6C3F516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EE9278-5376-4028-B2E6-574C53844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DDF870-2029-415B-9F52-FAFA9293B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5D0AB-A227-4F80-8CD6-000DA0E404C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152C40-5881-4323-94F8-F60F52679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C035E4-02D6-4400-AFE2-1440F3B36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D9F5D-CF0D-4935-BF8A-97F65B4E3C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2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3C6F4E6-30A1-4F63-C8CC-028750B5A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6668" cy="4570886"/>
            <a:chOff x="0" y="0"/>
            <a:chExt cx="12196668" cy="45708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EA7CA8-3AE6-4F5F-9932-63303CF2D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E3E019-A259-1130-CC5C-3165020BC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769F99-CCA6-5CDC-D1E1-C59A4762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13E73D3-029B-3D4E-1956-8EE7068A6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66820-062B-4422-BDFF-A9AF4ABB9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348" y="1124262"/>
            <a:ext cx="8017652" cy="2690413"/>
          </a:xfrm>
        </p:spPr>
        <p:txBody>
          <a:bodyPr anchor="t">
            <a:normAutofit/>
          </a:bodyPr>
          <a:lstStyle/>
          <a:p>
            <a:pPr algn="l"/>
            <a:r>
              <a:rPr lang="ru-RU" sz="4200">
                <a:solidFill>
                  <a:srgbClr val="FFFFFF"/>
                </a:solidFill>
              </a:rPr>
              <a:t>ВЕБ-ИГРА «УГАДАЙ МЕСТО ОБИТАНИЯ» ДЛЯ РАЗВИТИЯ БИОЛОГИЧЕСКОЙ ГРАМОТНОСТИ</a:t>
            </a:r>
            <a:br>
              <a:rPr lang="ru-RU" sz="4200">
                <a:solidFill>
                  <a:srgbClr val="FFFFFF"/>
                </a:solidFill>
              </a:rPr>
            </a:br>
            <a:endParaRPr lang="ru-RU" sz="4200">
              <a:solidFill>
                <a:srgbClr val="FFFFFF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DD861E-0572-4D61-A8F1-C90D5AE28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6348" y="5099566"/>
            <a:ext cx="6481746" cy="1199733"/>
          </a:xfrm>
        </p:spPr>
        <p:txBody>
          <a:bodyPr anchor="ctr">
            <a:normAutofit/>
          </a:bodyPr>
          <a:lstStyle/>
          <a:p>
            <a:pPr algn="l"/>
            <a:r>
              <a:rPr lang="ru-RU" sz="2000" dirty="0"/>
              <a:t>Над проектом работали: Иванов Андрей Иванович,</a:t>
            </a:r>
            <a:endParaRPr lang="ru-RU" sz="2000"/>
          </a:p>
          <a:p>
            <a:pPr algn="l"/>
            <a:r>
              <a:rPr lang="ru-RU" sz="2000" dirty="0"/>
              <a:t>Саутин Максим Викторович, Иванов Антон Иванович</a:t>
            </a:r>
            <a:endParaRPr lang="ru-RU" sz="2000"/>
          </a:p>
          <a:p>
            <a:pPr algn="l"/>
            <a:endParaRPr lang="ru-RU" sz="2000"/>
          </a:p>
        </p:txBody>
      </p:sp>
      <p:pic>
        <p:nvPicPr>
          <p:cNvPr id="7" name="Graphic 6" descr="Playing Cards">
            <a:extLst>
              <a:ext uri="{FF2B5EF4-FFF2-40B4-BE49-F238E27FC236}">
                <a16:creationId xmlns:a16="http://schemas.microsoft.com/office/drawing/2014/main" id="{5CDA6304-8781-9F73-1349-F57F95BD6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15646" y="5061057"/>
            <a:ext cx="1199733" cy="11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515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F8A795-370D-43CD-82A2-635C4F81D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3EE366-87A8-4ED7-A9ED-8D56CE3C3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64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Современная образовательная среда активно трансформируется под влиянием цифровых технологий. Геймификация (внедрение игровых механик в неигровые процессы) доказала свою эффективность в повышении мотивации учащихся, улучшении усвоения материала и формировании долгосрочной памяти. Однако большинство школьных цифровых ресурсов остаются статичными: презентации, тесты в формате PDF или закрытые платформы, требующие установки и регистрации.</a:t>
            </a:r>
          </a:p>
          <a:p>
            <a:pPr marL="0" indent="0">
              <a:buNone/>
            </a:pPr>
            <a:r>
              <a:rPr lang="ru-RU" sz="2200" dirty="0"/>
              <a:t>В своей работе мы рассматриваем проблему низкой вовлечённости учащихся в изучение биологии и географии через традиционные методы и предлагаю решение в виде кроссплатформенного веб-приложения (игры-</a:t>
            </a:r>
            <a:r>
              <a:rPr lang="ru-RU" sz="2200" dirty="0" err="1"/>
              <a:t>квиза</a:t>
            </a:r>
            <a:r>
              <a:rPr lang="ru-RU" sz="2200" dirty="0"/>
              <a:t>) для изучения мест обитания животных. Приложение работает прямо в браузере, не требует установки, адаптировано под мобильные устройства и использует визуальные образы для лучшего запоминания.</a:t>
            </a:r>
          </a:p>
          <a:p>
            <a:pPr marL="0" indent="0">
              <a:buNone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31929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B8940C-63EB-4393-BC99-C085456AB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2C71BF-8327-4AC6-86DC-2CEE78ED6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2600" dirty="0"/>
              <a:t>Проблема. Почему традиционные методы изучения зоогеографии недостаточно эффективны?</a:t>
            </a:r>
          </a:p>
          <a:p>
            <a:pPr lvl="0"/>
            <a:r>
              <a:rPr lang="ru-RU" sz="2600" dirty="0"/>
              <a:t>Отсутствует интерактивность и мгновенная обратная связь.</a:t>
            </a:r>
          </a:p>
          <a:p>
            <a:pPr lvl="0"/>
            <a:r>
              <a:rPr lang="ru-RU" sz="2600" dirty="0"/>
              <a:t>Учебные материалы часто не содержат качественных визуальных примеров.</a:t>
            </a:r>
          </a:p>
          <a:p>
            <a:pPr lvl="0"/>
            <a:r>
              <a:rPr lang="ru-RU" sz="2600" dirty="0"/>
              <a:t>Ресурсы либо требуют регистрации/установки, либо не работают на слабых устройствах.</a:t>
            </a:r>
          </a:p>
          <a:p>
            <a:pPr marL="0" indent="0">
              <a:buNone/>
            </a:pPr>
            <a:r>
              <a:rPr lang="ru-RU" sz="2600" dirty="0"/>
              <a:t>Актуальность.</a:t>
            </a:r>
          </a:p>
          <a:p>
            <a:pPr lvl="0"/>
            <a:r>
              <a:rPr lang="ru-RU" sz="2600" dirty="0"/>
              <a:t>По данным ЮНЕСКО, использование игровых механик в обучении повышает вовлечённость на 60–80%.</a:t>
            </a:r>
          </a:p>
          <a:p>
            <a:pPr lvl="0"/>
            <a:r>
              <a:rPr lang="ru-RU" sz="2600" dirty="0"/>
              <a:t>Более 75% школьников в возрасте 12–17 лет ежедневно используют смартфоны для доступа к образовательному контенту.</a:t>
            </a:r>
          </a:p>
          <a:p>
            <a:pPr lvl="0"/>
            <a:r>
              <a:rPr lang="ru-RU" sz="2600" dirty="0"/>
              <a:t>Современные браузерные технологии позволяют создавать лёгкие, кроссплатформенные приложения без затрат на разработку под </a:t>
            </a:r>
            <a:r>
              <a:rPr lang="ru-RU" sz="2600" dirty="0" err="1"/>
              <a:t>iOS</a:t>
            </a:r>
            <a:r>
              <a:rPr lang="ru-RU" sz="2600" dirty="0"/>
              <a:t>/</a:t>
            </a:r>
            <a:r>
              <a:rPr lang="ru-RU" sz="2600" dirty="0" err="1"/>
              <a:t>Android</a:t>
            </a:r>
            <a:r>
              <a:rPr lang="ru-RU" sz="2600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5323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5BA711-E759-48AB-9F77-77270F16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A978E1-B095-4603-A4B7-36E297AF3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Цель проекта: разработать интерактивное веб-приложение для проверки и расширения знаний учащихся о местах обитания животных с использованием визуального контента и мгновенной обратной связи.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8038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C1F908-538E-4621-B054-FCDEF2029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Игровой процесс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7019052-4DAB-4380-A91B-A32477815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99965" y="2422112"/>
            <a:ext cx="4338588" cy="26931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EA69D9-C4C2-4C5E-8C85-91BA4831A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47" y="1690688"/>
            <a:ext cx="7202456" cy="420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89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509DFB-0B99-446D-85C2-95C930762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34E4D8-40A1-4D7C-A128-3784E01E0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В рамках данного творческого проекта была разработана и успешно протестирована веб-игра «Угадай место обитания», предназначенная для интерактивного изучения биологии и географии. Приложение решает проблему низкой вовлечённости учащихся за счёт геймификации, визуального обучения и мгновенной обратной связи.</a:t>
            </a:r>
          </a:p>
          <a:p>
            <a:pPr marL="0" indent="0">
              <a:buNone/>
            </a:pPr>
            <a:r>
              <a:rPr lang="ru-RU" sz="2400" dirty="0"/>
              <a:t>Проект позволяет:</a:t>
            </a:r>
          </a:p>
          <a:p>
            <a:pPr lvl="0"/>
            <a:r>
              <a:rPr lang="ru-RU" sz="2400" dirty="0"/>
              <a:t>Проводить быструю диагностику знаний учащихся без установки дополнительного ПО.</a:t>
            </a:r>
          </a:p>
          <a:p>
            <a:pPr lvl="0"/>
            <a:r>
              <a:rPr lang="ru-RU" sz="2400" dirty="0"/>
              <a:t>Использовать научно достоверные изображения из открытых источников.</a:t>
            </a:r>
          </a:p>
          <a:p>
            <a:pPr lvl="0"/>
            <a:r>
              <a:rPr lang="ru-RU" sz="2400" dirty="0"/>
              <a:t>Работать на любых устройствах с современным браузером.</a:t>
            </a:r>
          </a:p>
          <a:p>
            <a:pPr lvl="0"/>
            <a:r>
              <a:rPr lang="ru-RU" sz="2400" dirty="0"/>
              <a:t>Демонстрировать практическое применение клиент-серверной архитектуры, REST-взаимодействия и безопасного управления сессиями.</a:t>
            </a:r>
          </a:p>
          <a:p>
            <a:pPr marL="0" indent="0">
              <a:buNone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92477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99966E4-B5F0-4585-ABC3-221FB5E0D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173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В перспективе планируется расширение функционала: подключение базы данных (</a:t>
            </a:r>
            <a:r>
              <a:rPr lang="ru-RU" sz="2200" dirty="0" err="1"/>
              <a:t>SQLite</a:t>
            </a:r>
            <a:r>
              <a:rPr lang="ru-RU" sz="2200" dirty="0"/>
              <a:t>/</a:t>
            </a:r>
            <a:r>
              <a:rPr lang="ru-RU" sz="2200" dirty="0" err="1"/>
              <a:t>PostgreSQL</a:t>
            </a:r>
            <a:r>
              <a:rPr lang="ru-RU" sz="2200" dirty="0"/>
              <a:t>) для сохранения глобального рейтинга, реализация PWA для офлайн-доступа, добавление мультиязычного интерфейса (RU/EN) и панели аналитики для преподавателей.</a:t>
            </a:r>
          </a:p>
          <a:p>
            <a:pPr marL="0" indent="0">
              <a:buNone/>
            </a:pPr>
            <a:r>
              <a:rPr lang="ru-RU" sz="2200" dirty="0"/>
              <a:t>Разработанное решение полностью готово к интеграции в образовательный процесс, размещению на школьных сайтах или использованию в рамках уроков окружающего мира или биологии.</a:t>
            </a:r>
          </a:p>
          <a:p>
            <a:pPr marL="0" indent="0">
              <a:buNone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984052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Изображение выглядит как кот, текст, Мелкие и средние кошки, млекопитающее&#10;&#10;Автоматически созданное описание">
            <a:extLst>
              <a:ext uri="{FF2B5EF4-FFF2-40B4-BE49-F238E27FC236}">
                <a16:creationId xmlns:a16="http://schemas.microsoft.com/office/drawing/2014/main" id="{87CA95BE-CEE2-4652-8801-97E7BBFF3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30" b="2870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12087E-8BFD-4B85-881D-F8B6E015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Спасибо за внимание!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5133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Office PowerPoint</Application>
  <PresentationFormat>Широкоэкранный</PresentationFormat>
  <Paragraphs>27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ВЕБ-ИГРА «УГАДАЙ МЕСТО ОБИТАНИЯ» ДЛЯ РАЗВИТИЯ БИОЛОГИЧЕСКОЙ ГРАМОТНОСТИ </vt:lpstr>
      <vt:lpstr>Введение</vt:lpstr>
      <vt:lpstr>Презентация PowerPoint</vt:lpstr>
      <vt:lpstr>Цель</vt:lpstr>
      <vt:lpstr>Игровой процесс</vt:lpstr>
      <vt:lpstr>Заключение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ВЕБ-ИГРА «УГАДАЙ МЕСТО ОБИТАНИЯ» ДЛЯ РАЗВИТИЯ БИОЛОГИЧЕСКОЙ ГРАМОТНОСТИ </dc:title>
  <dc:creator>admin</dc:creator>
  <cp:lastModifiedBy>admin</cp:lastModifiedBy>
  <cp:revision>1</cp:revision>
  <dcterms:created xsi:type="dcterms:W3CDTF">2026-05-05T07:34:36Z</dcterms:created>
  <dcterms:modified xsi:type="dcterms:W3CDTF">2026-05-05T07:34:47Z</dcterms:modified>
</cp:coreProperties>
</file>